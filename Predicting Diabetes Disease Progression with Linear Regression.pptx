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61" r:id="rId7"/>
    <p:sldId id="262" r:id="rId8"/>
    <p:sldId id="263" r:id="rId9"/>
    <p:sldId id="264" r:id="rId10"/>
    <p:sldId id="267" r:id="rId11"/>
    <p:sldId id="266" r:id="rId12"/>
    <p:sldId id="268" r:id="rId13"/>
    <p:sldId id="269" r:id="rId14"/>
    <p:sldId id="270" r:id="rId15"/>
    <p:sldId id="271" r:id="rId16"/>
    <p:sldId id="273" r:id="rId17"/>
    <p:sldId id="278" r:id="rId18"/>
    <p:sldId id="272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75" d="100"/>
          <a:sy n="75" d="100"/>
        </p:scale>
        <p:origin x="115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Predicting Diabetes Disease Progression with 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Muhammad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ehtesham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3836375"/>
          </a:xfrm>
        </p:spPr>
        <p:txBody>
          <a:bodyPr/>
          <a:lstStyle/>
          <a:p>
            <a:r>
              <a:rPr lang="en-US" sz="4000" b="1" dirty="0">
                <a:solidFill>
                  <a:srgbClr val="F9FAFB"/>
                </a:solidFill>
                <a:effectLst/>
                <a:latin typeface="quote-cjk-patch"/>
              </a:rPr>
              <a:t>Project Overview &amp; Objectives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b="0" i="0" cap="none" dirty="0">
                <a:effectLst/>
                <a:latin typeface="Aptos" panose="020B0004020202020204" pitchFamily="34" charset="0"/>
              </a:rPr>
              <a:t>Predict the progression of diabetes in patients one year after baseline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b="0" i="0" cap="none" dirty="0">
                <a:effectLst/>
                <a:latin typeface="Aptos" panose="020B0004020202020204" pitchFamily="34" charset="0"/>
              </a:rPr>
              <a:t>Build and evaluate linear regression models to identify the most predictive features of disease progression.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b="0" i="0" cap="none" dirty="0">
                <a:effectLst/>
                <a:latin typeface="Aptos" panose="020B0004020202020204" pitchFamily="34" charset="0"/>
              </a:rPr>
              <a:t>Start with single-feature models before moving to multi-feature models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383637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F9FAFB"/>
                </a:solidFill>
                <a:effectLst/>
                <a:latin typeface="Aptos" panose="020B0004020202020204" pitchFamily="34" charset="0"/>
              </a:rPr>
              <a:t>Methodology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3200" i="0" cap="none" dirty="0">
                <a:effectLst/>
                <a:latin typeface="Aptos" panose="020B0004020202020204" pitchFamily="34" charset="0"/>
              </a:rPr>
              <a:t>Single Feature Prediction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3200" i="0" cap="none" dirty="0">
                <a:effectLst/>
                <a:latin typeface="Aptos" panose="020B0004020202020204" pitchFamily="34" charset="0"/>
              </a:rPr>
              <a:t>Enhanced Prediction Using Feature Combinations</a:t>
            </a:r>
            <a:endParaRPr lang="en-US" sz="3200" cap="none" dirty="0">
              <a:latin typeface="Aptos" panose="020B0004020202020204" pitchFamily="34" charset="0"/>
            </a:endParaRP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3200" i="0" cap="none" dirty="0">
                <a:effectLst/>
                <a:latin typeface="Aptos" panose="020B0004020202020204" pitchFamily="34" charset="0"/>
              </a:rPr>
              <a:t>Predict Using ALL Features To Build A More Comprehensive And (Likely) More Accurate Model.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192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532849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4000" b="0" i="0" dirty="0">
                <a:solidFill>
                  <a:srgbClr val="F9FAFB"/>
                </a:solidFill>
                <a:effectLst/>
                <a:latin typeface="quote-cjk-patch"/>
              </a:rPr>
              <a:t>TASK 1: Single Feature Prediction</a:t>
            </a:r>
          </a:p>
          <a:p>
            <a:pPr>
              <a:buClr>
                <a:schemeClr val="tx1"/>
              </a:buClr>
            </a:pPr>
            <a:r>
              <a:rPr lang="en-US" sz="2800" b="1" i="0" cap="none" dirty="0">
                <a:effectLst/>
                <a:latin typeface="Aptos" panose="020B0004020202020204" pitchFamily="34" charset="0"/>
              </a:rPr>
              <a:t>Objective</a:t>
            </a:r>
            <a:r>
              <a:rPr lang="en-US" b="1" cap="none" dirty="0">
                <a:latin typeface="Aptos" panose="020B0004020202020204" pitchFamily="34" charset="0"/>
              </a:rPr>
              <a:t>:</a:t>
            </a:r>
            <a:r>
              <a:rPr lang="en-US" sz="1600" b="0" i="0" cap="none" dirty="0">
                <a:effectLst/>
                <a:latin typeface="Aptos" panose="020B0004020202020204" pitchFamily="34" charset="0"/>
              </a:rPr>
              <a:t> Find The Single Best Feature For Predicting Disease Progression.</a:t>
            </a:r>
          </a:p>
          <a:p>
            <a:pPr>
              <a:buClr>
                <a:schemeClr val="tx1"/>
              </a:buClr>
            </a:pPr>
            <a:r>
              <a:rPr lang="en-US" sz="2800" b="1" i="0" cap="none" dirty="0">
                <a:effectLst/>
                <a:latin typeface="Aptos" panose="020B0004020202020204" pitchFamily="34" charset="0"/>
              </a:rPr>
              <a:t>Process: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b="0" i="0" cap="none" dirty="0">
                <a:effectLst/>
                <a:latin typeface="Aptos" panose="020B0004020202020204" pitchFamily="34" charset="0"/>
              </a:rPr>
              <a:t>For Each Of The 10 Features, A Separate </a:t>
            </a:r>
            <a:r>
              <a:rPr lang="en-US" sz="1600" b="1" i="0" cap="none" dirty="0">
                <a:effectLst/>
                <a:latin typeface="Aptos" panose="020B0004020202020204" pitchFamily="34" charset="0"/>
              </a:rPr>
              <a:t>Linear Regression</a:t>
            </a:r>
            <a:r>
              <a:rPr lang="en-US" sz="1600" b="0" i="0" cap="none" dirty="0">
                <a:effectLst/>
                <a:latin typeface="Aptos" panose="020B0004020202020204" pitchFamily="34" charset="0"/>
              </a:rPr>
              <a:t> Model Was Trained.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b="0" i="0" cap="none" dirty="0">
                <a:effectLst/>
                <a:latin typeface="Aptos" panose="020B0004020202020204" pitchFamily="34" charset="0"/>
              </a:rPr>
              <a:t>The Model Used Only That One Feature To Predict The Target Y.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b="0" i="0" cap="none" dirty="0">
                <a:effectLst/>
                <a:latin typeface="Aptos" panose="020B0004020202020204" pitchFamily="34" charset="0"/>
              </a:rPr>
              <a:t>Model Performance Was Evaluated Using </a:t>
            </a:r>
            <a:r>
              <a:rPr lang="en-US" sz="1600" b="1" i="0" cap="none" dirty="0">
                <a:effectLst/>
                <a:latin typeface="Aptos" panose="020B0004020202020204" pitchFamily="34" charset="0"/>
              </a:rPr>
              <a:t>Mean Squared Error (MSE)</a:t>
            </a:r>
            <a:r>
              <a:rPr lang="en-US" sz="1600" cap="none" dirty="0">
                <a:latin typeface="Aptos" panose="020B0004020202020204" pitchFamily="34" charset="0"/>
              </a:rPr>
              <a:t>.</a:t>
            </a:r>
            <a:endParaRPr lang="en-US" sz="2000" b="0" i="0" cap="none" dirty="0">
              <a:effectLst/>
              <a:latin typeface="Aptos" panose="020B0004020202020204" pitchFamily="34" charset="0"/>
            </a:endParaRPr>
          </a:p>
          <a:p>
            <a:pPr>
              <a:buClr>
                <a:schemeClr val="tx1"/>
              </a:buClr>
            </a:pPr>
            <a:r>
              <a:rPr lang="en-US" sz="2800" b="1" i="0" cap="none" dirty="0">
                <a:effectLst/>
                <a:latin typeface="Aptos" panose="020B0004020202020204" pitchFamily="34" charset="0"/>
              </a:rPr>
              <a:t>Evaluation Metric:</a:t>
            </a:r>
          </a:p>
          <a:p>
            <a:pPr>
              <a:buClr>
                <a:schemeClr val="tx1"/>
              </a:buClr>
            </a:pPr>
            <a:r>
              <a:rPr lang="en-US" sz="1600" b="1" i="0" cap="none" dirty="0">
                <a:effectLst/>
                <a:latin typeface="Aptos" panose="020B0004020202020204" pitchFamily="34" charset="0"/>
              </a:rPr>
              <a:t>Mean Squared Error (MSE): </a:t>
            </a:r>
            <a:r>
              <a:rPr lang="en-US" sz="1600" b="0" i="0" cap="none" dirty="0">
                <a:effectLst/>
                <a:latin typeface="Aptos" panose="020B0004020202020204" pitchFamily="34" charset="0"/>
              </a:rPr>
              <a:t>Measures The Average Squared Difference Between The Actual And Predicted Values. </a:t>
            </a:r>
            <a:r>
              <a:rPr lang="en-US" sz="1600" b="1" i="0" cap="none" dirty="0">
                <a:effectLst/>
                <a:latin typeface="Aptos" panose="020B0004020202020204" pitchFamily="34" charset="0"/>
              </a:rPr>
              <a:t>Lower MSE = Better Model</a:t>
            </a:r>
            <a:endParaRPr lang="en-US" sz="2000" cap="none" dirty="0">
              <a:latin typeface="Aptos" panose="020B0004020202020204" pitchFamily="34" charset="0"/>
            </a:endParaRPr>
          </a:p>
          <a:p>
            <a:pPr>
              <a:buClr>
                <a:schemeClr val="tx1"/>
              </a:buClr>
            </a:pPr>
            <a:endParaRPr lang="en-US" sz="1600" cap="none" dirty="0">
              <a:solidFill>
                <a:srgbClr val="F9FAFB"/>
              </a:solidFill>
              <a:latin typeface="quote-cjk-patch"/>
            </a:endParaRPr>
          </a:p>
          <a:p>
            <a:pPr>
              <a:buClr>
                <a:schemeClr val="tx1"/>
              </a:buClr>
            </a:pPr>
            <a:endParaRPr lang="en-US" sz="1600" cap="none" dirty="0">
              <a:solidFill>
                <a:srgbClr val="F9FAFB"/>
              </a:solidFill>
              <a:latin typeface="quote-cjk-patch"/>
            </a:endParaRPr>
          </a:p>
          <a:p>
            <a:pPr>
              <a:buClr>
                <a:schemeClr val="tx1"/>
              </a:buClr>
            </a:pPr>
            <a:endParaRPr lang="en-US" sz="1600" cap="none" dirty="0">
              <a:solidFill>
                <a:srgbClr val="F9FAFB"/>
              </a:solidFill>
              <a:latin typeface="quote-cjk-patch"/>
            </a:endParaRPr>
          </a:p>
          <a:p>
            <a:pPr>
              <a:buClr>
                <a:schemeClr val="tx1"/>
              </a:buClr>
            </a:pPr>
            <a:endParaRPr lang="en-US" sz="1600" cap="none" dirty="0">
              <a:solidFill>
                <a:srgbClr val="F9FAFB"/>
              </a:solidFill>
              <a:latin typeface="quote-cjk-patch"/>
            </a:endParaRPr>
          </a:p>
          <a:p>
            <a:pPr>
              <a:buClr>
                <a:schemeClr val="tx1"/>
              </a:buClr>
            </a:pPr>
            <a:endParaRPr lang="en-US" sz="1600" cap="none" dirty="0">
              <a:solidFill>
                <a:srgbClr val="F9FAFB"/>
              </a:solidFill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058907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312D2C-ACEF-A8FC-5225-4F6F3DD5C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103743"/>
              </p:ext>
            </p:extLst>
          </p:nvPr>
        </p:nvGraphicFramePr>
        <p:xfrm>
          <a:off x="590549" y="1338828"/>
          <a:ext cx="10544176" cy="52114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72088">
                  <a:extLst>
                    <a:ext uri="{9D8B030D-6E8A-4147-A177-3AD203B41FA5}">
                      <a16:colId xmlns:a16="http://schemas.microsoft.com/office/drawing/2014/main" val="3477978935"/>
                    </a:ext>
                  </a:extLst>
                </a:gridCol>
                <a:gridCol w="5272088">
                  <a:extLst>
                    <a:ext uri="{9D8B030D-6E8A-4147-A177-3AD203B41FA5}">
                      <a16:colId xmlns:a16="http://schemas.microsoft.com/office/drawing/2014/main" val="1884346828"/>
                    </a:ext>
                  </a:extLst>
                </a:gridCol>
              </a:tblGrid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Feature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Mean Squared Error (MSE)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133464" marT="83415" marB="83415" anchor="ctr"/>
                </a:tc>
                <a:extLst>
                  <a:ext uri="{0D108BD9-81ED-4DB2-BD59-A6C34878D82A}">
                    <a16:rowId xmlns:a16="http://schemas.microsoft.com/office/drawing/2014/main" val="3044674460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BMI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3890.46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4246984484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S5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4031.00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2308773386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S4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4831.14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924821188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BP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4774.11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2698030508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S3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5005.66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1518262966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S6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5062.38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2665114274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S1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5663.32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701397602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AGE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5720.55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3007726841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S2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5750.24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1342198656"/>
                  </a:ext>
                </a:extLst>
              </a:tr>
              <a:tr h="473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SEX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33464" marT="83415" marB="834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5918.89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3464" marR="0" marT="83415" marB="83415" anchor="ctr"/>
                </a:tc>
                <a:extLst>
                  <a:ext uri="{0D108BD9-81ED-4DB2-BD59-A6C34878D82A}">
                    <a16:rowId xmlns:a16="http://schemas.microsoft.com/office/drawing/2014/main" val="322923019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4AA2AE1-7E1A-C686-3603-4D724B5FC3D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107722"/>
            <a:ext cx="10125075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Results: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trained 10 different models, one for each feature.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model's performance (MSE) was compared to identify the winner.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0994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5251" y="0"/>
            <a:ext cx="11896531" cy="3836375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Visualization: The Best Model</a:t>
            </a:r>
          </a:p>
          <a:p>
            <a:pPr>
              <a:buClr>
                <a:schemeClr val="tx1"/>
              </a:buClr>
            </a:pPr>
            <a:r>
              <a:rPr lang="en-US" sz="2000" b="1" i="0" dirty="0">
                <a:effectLst/>
                <a:latin typeface="quote-cjk-patch"/>
              </a:rPr>
              <a:t>BMI vs. Disease Progression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BCCDB49-1497-4BAF-A8C0-0E66FBFAE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1155087"/>
            <a:ext cx="8067675" cy="536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608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3"/>
            <a:ext cx="11896531" cy="5376121"/>
          </a:xfrm>
        </p:spPr>
        <p:txBody>
          <a:bodyPr>
            <a:normAutofit lnSpcReduction="10000"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8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TASK 2: Two-Feature (Pairwise) Prediction</a:t>
            </a:r>
            <a:endParaRPr lang="en-US" sz="38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3000" b="1" kern="100" cap="non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 </a:t>
            </a:r>
            <a:r>
              <a:rPr lang="en-US" sz="1900" kern="100" cap="non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The Optimal Combination Of Two Features That Together Provide The Most Accurate Prediction Of Diabetes Progression.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3000" b="1" kern="100" cap="non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Approach</a:t>
            </a:r>
            <a:r>
              <a:rPr lang="en-US" sz="3000" b="1" kern="100" cap="none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en-US" sz="3000" b="1" kern="100" cap="non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900" kern="100" cap="non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Exhaustive Testing Of All Possible Feature Pairs Using Bivariate Linear Regression.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3000" b="1" kern="100" cap="non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Process:</a:t>
            </a:r>
          </a:p>
          <a:p>
            <a:pPr marL="742950" marR="0" lvl="1" indent="-28575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900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Generate All Unique Pairs From 10 Features (45 Total Combinations)</a:t>
            </a:r>
          </a:p>
          <a:p>
            <a:pPr marL="742950" marR="0" lvl="1" indent="-28575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900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Each Pair, Train A Separate Linear Regression Model</a:t>
            </a:r>
          </a:p>
          <a:p>
            <a:pPr marL="742950" marR="0" lvl="1" indent="-28575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900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Evaluate Each Model Using Mean Squared Error (MSE)</a:t>
            </a:r>
          </a:p>
          <a:p>
            <a:pPr marL="742950" marR="0" lvl="1" indent="-28575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900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The Pair With Lowest MSE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buClr>
                <a:schemeClr val="tx1"/>
              </a:buClr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034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5"/>
            <a:ext cx="8286751" cy="1066078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Results: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0" i="0" dirty="0">
                <a:effectLst/>
                <a:latin typeface="Aptos" panose="020B0004020202020204" pitchFamily="34" charset="0"/>
              </a:rPr>
              <a:t>The top 5 pairs by MSE are: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1241570-8A4F-E764-87FB-4F11BD485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399771"/>
              </p:ext>
            </p:extLst>
          </p:nvPr>
        </p:nvGraphicFramePr>
        <p:xfrm>
          <a:off x="944563" y="1185882"/>
          <a:ext cx="8075613" cy="33480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1871">
                  <a:extLst>
                    <a:ext uri="{9D8B030D-6E8A-4147-A177-3AD203B41FA5}">
                      <a16:colId xmlns:a16="http://schemas.microsoft.com/office/drawing/2014/main" val="4190380228"/>
                    </a:ext>
                  </a:extLst>
                </a:gridCol>
                <a:gridCol w="2691871">
                  <a:extLst>
                    <a:ext uri="{9D8B030D-6E8A-4147-A177-3AD203B41FA5}">
                      <a16:colId xmlns:a16="http://schemas.microsoft.com/office/drawing/2014/main" val="2699853105"/>
                    </a:ext>
                  </a:extLst>
                </a:gridCol>
                <a:gridCol w="2691871">
                  <a:extLst>
                    <a:ext uri="{9D8B030D-6E8A-4147-A177-3AD203B41FA5}">
                      <a16:colId xmlns:a16="http://schemas.microsoft.com/office/drawing/2014/main" val="2439617826"/>
                    </a:ext>
                  </a:extLst>
                </a:gridCol>
              </a:tblGrid>
              <a:tr h="5580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Feature Pair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Mean Squared Error (MSE)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Improvement vs Single BMI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496875073"/>
                  </a:ext>
                </a:extLst>
              </a:tr>
              <a:tr h="5580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(BMI, S5)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3205.19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17.6% improvement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368549667"/>
                  </a:ext>
                </a:extLst>
              </a:tr>
              <a:tr h="5580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(BMI, BP)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3581.69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7.9% improvement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546875321"/>
                  </a:ext>
                </a:extLst>
              </a:tr>
              <a:tr h="5580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(BMI, S4)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3638.17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6.5% improvement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850281492"/>
                  </a:ext>
                </a:extLst>
              </a:tr>
              <a:tr h="5580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(BMI, S3)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3669.26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5.7% improvement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726108259"/>
                  </a:ext>
                </a:extLst>
              </a:tr>
              <a:tr h="5580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(BP, S5)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3695.05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5.0% improvement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553980762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4276EAE0-EF92-2281-71D0-D783B6528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265" y="119803"/>
            <a:ext cx="3122735" cy="145182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0BA9CFD-4002-6DB5-BF57-CA0A66F12C85}"/>
              </a:ext>
            </a:extLst>
          </p:cNvPr>
          <p:cNvSpPr txBox="1"/>
          <p:nvPr/>
        </p:nvSpPr>
        <p:spPr>
          <a:xfrm>
            <a:off x="944563" y="4533900"/>
            <a:ext cx="9999662" cy="2581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Insights:</a:t>
            </a:r>
            <a:endParaRPr lang="en-US" sz="16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Best Performance: 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BMI + S5 combination reduces error by 17.6% compared to using BMI alone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BMI Dominance: 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BMI appears in 4 of the top 5 pairs, confirming its importance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Blood Serum Impact: 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S5 (possibly blood sugar related) significantly enhances prediction when combined with BMI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Performance Range: 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 pairs show 5-18% improvement over single-feature approach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776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5"/>
            <a:ext cx="12106276" cy="169947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000" b="1" dirty="0">
                <a:solidFill>
                  <a:srgbClr val="F9FAFB"/>
                </a:solidFill>
                <a:effectLst/>
                <a:latin typeface="quote-cjk-patch"/>
              </a:rPr>
              <a:t>Visualization: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i="0" cap="none" dirty="0">
                <a:effectLst/>
                <a:latin typeface="Aptos" panose="020B0004020202020204" pitchFamily="34" charset="0"/>
              </a:rPr>
              <a:t>A Clear Positive Correlation Exists higher BMI And S5 Levels Predict More Severe Disease Progression.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9CEFDED-433C-0F02-A72D-CCC397322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008" y="1352550"/>
            <a:ext cx="6610367" cy="550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182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896531" cy="5957146"/>
          </a:xfrm>
        </p:spPr>
        <p:txBody>
          <a:bodyPr>
            <a:normAutofit/>
          </a:bodyPr>
          <a:lstStyle/>
          <a:p>
            <a:pPr algn="l"/>
            <a:r>
              <a:rPr lang="en-US" sz="3200" b="1" i="0" dirty="0">
                <a:solidFill>
                  <a:srgbClr val="F9FAFB"/>
                </a:solidFill>
                <a:effectLst/>
                <a:latin typeface="Aptos" panose="020B0004020202020204" pitchFamily="34" charset="0"/>
              </a:rPr>
              <a:t>Task 3: Comprehensive Model Using All Features</a:t>
            </a:r>
          </a:p>
          <a:p>
            <a:pPr algn="l"/>
            <a:r>
              <a:rPr lang="en-US" sz="2200" b="1" i="0" cap="none" dirty="0">
                <a:effectLst/>
                <a:latin typeface="Aptos" panose="020B0004020202020204" pitchFamily="34" charset="0"/>
              </a:rPr>
              <a:t>Objective</a:t>
            </a:r>
            <a:br>
              <a:rPr lang="en-US" sz="1600" cap="none" dirty="0">
                <a:latin typeface="Aptos" panose="020B0004020202020204" pitchFamily="34" charset="0"/>
              </a:rPr>
            </a:br>
            <a:r>
              <a:rPr lang="en-US" sz="1600" b="0" i="0" cap="none" dirty="0">
                <a:effectLst/>
                <a:latin typeface="Aptos" panose="020B0004020202020204" pitchFamily="34" charset="0"/>
              </a:rPr>
              <a:t>To Develop A More Accurate And Holistic Predictive Model For Diabetes Progression By Leveraging The Complete Set Of Patient Biomarkers And Clinical Data.</a:t>
            </a:r>
          </a:p>
          <a:p>
            <a:pPr algn="l"/>
            <a:r>
              <a:rPr lang="en-US" sz="2200" b="1" i="0" cap="none" dirty="0">
                <a:effectLst/>
                <a:latin typeface="Aptos" panose="020B0004020202020204" pitchFamily="34" charset="0"/>
              </a:rPr>
              <a:t>Approach</a:t>
            </a:r>
          </a:p>
          <a:p>
            <a:pPr algn="l"/>
            <a:r>
              <a:rPr lang="en-US" sz="1900" b="1" i="0" cap="none" dirty="0">
                <a:effectLst/>
                <a:latin typeface="Aptos" panose="020B0004020202020204" pitchFamily="34" charset="0"/>
              </a:rPr>
              <a:t>Model Selection:</a:t>
            </a:r>
            <a:r>
              <a:rPr lang="en-US" sz="1900" b="0" i="0" cap="none" dirty="0">
                <a:effectLst/>
                <a:latin typeface="Aptos" panose="020B0004020202020204" pitchFamily="34" charset="0"/>
              </a:rPr>
              <a:t> </a:t>
            </a:r>
            <a:r>
              <a:rPr lang="en-US" sz="1500" b="0" i="0" cap="none" dirty="0">
                <a:effectLst/>
                <a:latin typeface="Aptos" panose="020B0004020202020204" pitchFamily="34" charset="0"/>
              </a:rPr>
              <a:t>Employed Multi-variable Linear Regression.</a:t>
            </a:r>
          </a:p>
          <a:p>
            <a:r>
              <a:rPr lang="en-US" sz="1900" b="1" i="0" cap="none" dirty="0">
                <a:effectLst/>
                <a:latin typeface="Aptos" panose="020B0004020202020204" pitchFamily="34" charset="0"/>
              </a:rPr>
              <a:t>Feature Set:</a:t>
            </a:r>
            <a:r>
              <a:rPr lang="en-US" sz="1900" b="0" i="0" cap="none" dirty="0">
                <a:effectLst/>
                <a:latin typeface="Aptos" panose="020B0004020202020204" pitchFamily="34" charset="0"/>
              </a:rPr>
              <a:t> </a:t>
            </a:r>
            <a:r>
              <a:rPr lang="en-US" sz="1500" b="0" i="0" cap="none" dirty="0">
                <a:effectLst/>
                <a:latin typeface="Aptos" panose="020B0004020202020204" pitchFamily="34" charset="0"/>
              </a:rPr>
              <a:t>Utilized All </a:t>
            </a:r>
            <a:r>
              <a:rPr lang="en-US" sz="1500" b="1" i="0" cap="none" dirty="0">
                <a:effectLst/>
                <a:latin typeface="Aptos" panose="020B0004020202020204" pitchFamily="34" charset="0"/>
              </a:rPr>
              <a:t>10 Available Features</a:t>
            </a:r>
            <a:r>
              <a:rPr lang="en-US" sz="1500" b="0" i="0" cap="none" dirty="0">
                <a:effectLst/>
                <a:latin typeface="Aptos" panose="020B0004020202020204" pitchFamily="34" charset="0"/>
              </a:rPr>
              <a:t> (Age, Sex, </a:t>
            </a:r>
            <a:r>
              <a:rPr lang="en-US" sz="1500" b="0" i="0" cap="none" dirty="0" err="1">
                <a:effectLst/>
                <a:latin typeface="Aptos" panose="020B0004020202020204" pitchFamily="34" charset="0"/>
              </a:rPr>
              <a:t>Bmi</a:t>
            </a:r>
            <a:r>
              <a:rPr lang="en-US" sz="1500" b="0" i="0" cap="none" dirty="0">
                <a:effectLst/>
                <a:latin typeface="Aptos" panose="020B0004020202020204" pitchFamily="34" charset="0"/>
              </a:rPr>
              <a:t>, Bp, S1-s6).</a:t>
            </a:r>
          </a:p>
          <a:p>
            <a:pPr algn="l"/>
            <a:r>
              <a:rPr lang="en-US" sz="2000" b="1" i="0" cap="none" dirty="0">
                <a:effectLst/>
                <a:latin typeface="Aptos" panose="020B0004020202020204" pitchFamily="34" charset="0"/>
              </a:rPr>
              <a:t>Process</a:t>
            </a:r>
            <a:endParaRPr lang="en-US" sz="2000" b="0" i="0" cap="none" dirty="0">
              <a:effectLst/>
              <a:latin typeface="Aptos" panose="020B0004020202020204" pitchFamily="34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Trained The Model On The Entire Dataset.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The Model Learned A Unique Coefficient (Weight) For Each Feature, Quantifying Its Individual Impact On The Predicted Disease Progression Score.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Calculated The Mean Squared Error (</a:t>
            </a:r>
            <a:r>
              <a:rPr lang="en-US" sz="1600" b="0" i="0" dirty="0" err="1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Mse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) To Evaluate Performance.</a:t>
            </a:r>
          </a:p>
          <a:p>
            <a:br>
              <a:rPr lang="en-US" dirty="0">
                <a:latin typeface="Aptos" panose="020B0004020202020204" pitchFamily="34" charset="0"/>
              </a:rPr>
            </a:b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765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3836375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9FAFB"/>
                </a:solidFill>
                <a:effectLst/>
                <a:latin typeface="quote-cjk-patch"/>
              </a:rPr>
              <a:t>Results</a:t>
            </a:r>
          </a:p>
          <a:p>
            <a:pPr algn="l"/>
            <a:r>
              <a:rPr lang="en-US" sz="2000" b="1" i="0" cap="none" dirty="0">
                <a:effectLst/>
                <a:latin typeface="quote-cjk-patch"/>
              </a:rPr>
              <a:t>Final MSE: 2859.70</a:t>
            </a:r>
            <a:endParaRPr lang="en-US" sz="2000" b="0" i="0" cap="none" dirty="0">
              <a:effectLst/>
              <a:latin typeface="quote-cjk-patch"/>
            </a:endParaRPr>
          </a:p>
          <a:p>
            <a:pPr algn="l"/>
            <a:r>
              <a:rPr lang="en-US" sz="1500" b="0" i="0" cap="none" dirty="0">
                <a:effectLst/>
                <a:latin typeface="quote-cjk-patch"/>
              </a:rPr>
              <a:t>This Represents A </a:t>
            </a:r>
            <a:r>
              <a:rPr lang="en-US" sz="1500" b="1" i="0" cap="none" dirty="0">
                <a:effectLst/>
                <a:latin typeface="quote-cjk-patch"/>
              </a:rPr>
              <a:t>~11% Improvement</a:t>
            </a:r>
            <a:r>
              <a:rPr lang="en-US" sz="1500" b="0" i="0" cap="none" dirty="0">
                <a:effectLst/>
                <a:latin typeface="quote-cjk-patch"/>
              </a:rPr>
              <a:t> In Accuracy Over The Two-feature (BMI &amp; S5) Model, Confirming That Additional Features Provide Critical Predictive Information.</a:t>
            </a:r>
          </a:p>
          <a:p>
            <a:pPr>
              <a:buClr>
                <a:schemeClr val="tx1"/>
              </a:buClr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Feature Impact Analysis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Model's Coefficients Reveal The Relative Influence Of Each Factor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E22515-AB2C-79AE-AD54-304F5FFB4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041643"/>
              </p:ext>
            </p:extLst>
          </p:nvPr>
        </p:nvGraphicFramePr>
        <p:xfrm>
          <a:off x="438148" y="2876550"/>
          <a:ext cx="7452464" cy="35432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26232">
                  <a:extLst>
                    <a:ext uri="{9D8B030D-6E8A-4147-A177-3AD203B41FA5}">
                      <a16:colId xmlns:a16="http://schemas.microsoft.com/office/drawing/2014/main" val="998384728"/>
                    </a:ext>
                  </a:extLst>
                </a:gridCol>
                <a:gridCol w="3726232">
                  <a:extLst>
                    <a:ext uri="{9D8B030D-6E8A-4147-A177-3AD203B41FA5}">
                      <a16:colId xmlns:a16="http://schemas.microsoft.com/office/drawing/2014/main" val="3712223603"/>
                    </a:ext>
                  </a:extLst>
                </a:gridCol>
              </a:tblGrid>
              <a:tr h="8847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Strongest Positive Drivers ➚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Strongest Negative Drivers ➘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524919548"/>
                  </a:ext>
                </a:extLst>
              </a:tr>
              <a:tr h="8849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S5: 68.48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SEX: -22.86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720593444"/>
                  </a:ext>
                </a:extLst>
              </a:tr>
              <a:tr h="8849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S4: 6.53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S1: -1.09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051805307"/>
                  </a:ext>
                </a:extLst>
              </a:tr>
              <a:tr h="8886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BMI: 5.60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28756422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A81C33B-487C-B121-216F-45080642C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101" y="1923043"/>
            <a:ext cx="4005918" cy="406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75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483319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3500" b="1" dirty="0">
                <a:solidFill>
                  <a:srgbClr val="F9FAFB"/>
                </a:solidFill>
                <a:effectLst/>
                <a:latin typeface="quote-cjk-patch"/>
              </a:rPr>
              <a:t>Task 4: Model Performance Across Training Set Sizes</a:t>
            </a:r>
          </a:p>
          <a:p>
            <a:pPr>
              <a:buClr>
                <a:schemeClr val="tx1"/>
              </a:buClr>
            </a:pPr>
            <a:r>
              <a:rPr lang="en-US" sz="3600" b="1" i="0" cap="none" dirty="0">
                <a:effectLst/>
                <a:latin typeface="quote-cjk-patch"/>
              </a:rPr>
              <a:t>Objective</a:t>
            </a:r>
            <a:br>
              <a:rPr lang="en-US" sz="2100" cap="none" dirty="0"/>
            </a:br>
            <a:r>
              <a:rPr lang="en-US" sz="2100" b="0" i="0" cap="none" dirty="0">
                <a:effectLst/>
                <a:latin typeface="quote-cjk-patch"/>
              </a:rPr>
              <a:t>To Evaluate How The Amount Of Training Data Affects Our Linear Regression Model's Performance</a:t>
            </a:r>
          </a:p>
          <a:p>
            <a:pPr algn="l"/>
            <a:r>
              <a:rPr lang="en-US" sz="3600" b="1" i="0" cap="none" dirty="0">
                <a:effectLst/>
                <a:latin typeface="quote-cjk-patch"/>
              </a:rPr>
              <a:t>Approach</a:t>
            </a:r>
            <a:endParaRPr lang="en-US" sz="3600" b="0" i="0" cap="none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100" b="0" i="0" cap="none" dirty="0">
                <a:effectLst/>
                <a:latin typeface="quote-cjk-patch"/>
              </a:rPr>
              <a:t>Trained Multiple Linear Regression Models Using </a:t>
            </a:r>
            <a:r>
              <a:rPr lang="en-US" sz="2100" b="1" i="0" cap="none" dirty="0">
                <a:effectLst/>
                <a:latin typeface="quote-cjk-patch"/>
              </a:rPr>
              <a:t>All 10 Features</a:t>
            </a:r>
            <a:endParaRPr lang="en-US" sz="2100" b="0" i="0" cap="none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100" b="0" i="0" cap="none" dirty="0">
                <a:effectLst/>
                <a:latin typeface="quote-cjk-patch"/>
              </a:rPr>
              <a:t>Systematically Varied The Training Set Size: </a:t>
            </a:r>
            <a:r>
              <a:rPr lang="en-US" sz="2100" b="1" i="0" cap="none" dirty="0">
                <a:effectLst/>
                <a:latin typeface="quote-cjk-patch"/>
              </a:rPr>
              <a:t>20, 50, 100, 200</a:t>
            </a:r>
            <a:r>
              <a:rPr lang="en-US" sz="2100" b="0" i="0" cap="none" dirty="0">
                <a:effectLst/>
                <a:latin typeface="quote-cjk-patch"/>
              </a:rPr>
              <a:t> Samples</a:t>
            </a:r>
          </a:p>
          <a:p>
            <a:pPr algn="l"/>
            <a:r>
              <a:rPr lang="en-US" sz="3600" b="1" i="0" cap="none" dirty="0">
                <a:effectLst/>
                <a:latin typeface="quote-cjk-patch"/>
              </a:rPr>
              <a:t>For Each Size: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chemeClr val="tx1"/>
                </a:solidFill>
                <a:effectLst/>
                <a:latin typeface="quote-cjk-patch"/>
              </a:rPr>
              <a:t>Calculated </a:t>
            </a:r>
            <a:r>
              <a:rPr lang="en-US" sz="2100" b="1" i="0" dirty="0">
                <a:solidFill>
                  <a:schemeClr val="tx1"/>
                </a:solidFill>
                <a:effectLst/>
                <a:latin typeface="quote-cjk-patch"/>
              </a:rPr>
              <a:t>Training MSE</a:t>
            </a:r>
            <a:r>
              <a:rPr lang="en-US" sz="2100" b="0" i="0" dirty="0">
                <a:solidFill>
                  <a:schemeClr val="tx1"/>
                </a:solidFill>
                <a:effectLst/>
                <a:latin typeface="quote-cjk-patch"/>
              </a:rPr>
              <a:t> (Performance On Seen Data)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chemeClr val="tx1"/>
                </a:solidFill>
                <a:effectLst/>
                <a:latin typeface="quote-cjk-patch"/>
              </a:rPr>
              <a:t>Calculated </a:t>
            </a:r>
            <a:r>
              <a:rPr lang="en-US" sz="2100" b="1" i="0" dirty="0">
                <a:solidFill>
                  <a:schemeClr val="tx1"/>
                </a:solidFill>
                <a:effectLst/>
                <a:latin typeface="quote-cjk-patch"/>
              </a:rPr>
              <a:t>Validation MSE</a:t>
            </a:r>
            <a:r>
              <a:rPr lang="en-US" sz="2100" b="0" i="0" dirty="0">
                <a:solidFill>
                  <a:schemeClr val="tx1"/>
                </a:solidFill>
                <a:effectLst/>
                <a:latin typeface="quote-cjk-patch"/>
              </a:rPr>
              <a:t> (Performance On Unseen Data)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100" b="0" i="0" dirty="0">
                <a:solidFill>
                  <a:schemeClr val="tx1"/>
                </a:solidFill>
                <a:effectLst/>
                <a:latin typeface="quote-cjk-patch"/>
              </a:rPr>
              <a:t>Compared The Difference To Assess </a:t>
            </a:r>
            <a:r>
              <a:rPr lang="en-US" sz="2100" b="1" i="0" dirty="0">
                <a:solidFill>
                  <a:schemeClr val="tx1"/>
                </a:solidFill>
                <a:effectLst/>
                <a:latin typeface="quote-cjk-patch"/>
              </a:rPr>
              <a:t>Overfitting</a:t>
            </a:r>
            <a:endParaRPr lang="en-US" sz="2100" b="0" i="0" dirty="0">
              <a:solidFill>
                <a:schemeClr val="tx1"/>
              </a:solidFill>
              <a:effectLst/>
              <a:latin typeface="quote-cjk-patch"/>
            </a:endParaRPr>
          </a:p>
          <a:p>
            <a:pPr>
              <a:buClr>
                <a:schemeClr val="tx1"/>
              </a:buClr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125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3658869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9FAFB"/>
                </a:solidFill>
                <a:effectLst/>
                <a:latin typeface="quote-cjk-patch"/>
              </a:rPr>
              <a:t>Experimental Results</a:t>
            </a:r>
          </a:p>
          <a:p>
            <a:pPr>
              <a:buClr>
                <a:schemeClr val="tx1"/>
              </a:buClr>
            </a:pPr>
            <a:r>
              <a:rPr lang="en-US" sz="1600" b="1" dirty="0">
                <a:effectLst/>
                <a:latin typeface="Aptos" panose="020B0004020202020204" pitchFamily="34" charset="0"/>
              </a:rPr>
              <a:t>Training vs Validation Performance</a:t>
            </a:r>
          </a:p>
          <a:p>
            <a:pPr>
              <a:buClr>
                <a:schemeClr val="tx1"/>
              </a:buClr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650D38-087B-5FD5-0C2E-7B9BC85C2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335992"/>
              </p:ext>
            </p:extLst>
          </p:nvPr>
        </p:nvGraphicFramePr>
        <p:xfrm>
          <a:off x="295470" y="1645073"/>
          <a:ext cx="10058401" cy="2133600"/>
        </p:xfrm>
        <a:graphic>
          <a:graphicData uri="http://schemas.openxmlformats.org/drawingml/2006/table">
            <a:tbl>
              <a:tblPr/>
              <a:tblGrid>
                <a:gridCol w="2294878">
                  <a:extLst>
                    <a:ext uri="{9D8B030D-6E8A-4147-A177-3AD203B41FA5}">
                      <a16:colId xmlns:a16="http://schemas.microsoft.com/office/drawing/2014/main" val="3972249326"/>
                    </a:ext>
                  </a:extLst>
                </a:gridCol>
                <a:gridCol w="2587841">
                  <a:extLst>
                    <a:ext uri="{9D8B030D-6E8A-4147-A177-3AD203B41FA5}">
                      <a16:colId xmlns:a16="http://schemas.microsoft.com/office/drawing/2014/main" val="898358431"/>
                    </a:ext>
                  </a:extLst>
                </a:gridCol>
                <a:gridCol w="2587841">
                  <a:extLst>
                    <a:ext uri="{9D8B030D-6E8A-4147-A177-3AD203B41FA5}">
                      <a16:colId xmlns:a16="http://schemas.microsoft.com/office/drawing/2014/main" val="1223512861"/>
                    </a:ext>
                  </a:extLst>
                </a:gridCol>
                <a:gridCol w="2587841">
                  <a:extLst>
                    <a:ext uri="{9D8B030D-6E8A-4147-A177-3AD203B41FA5}">
                      <a16:colId xmlns:a16="http://schemas.microsoft.com/office/drawing/2014/main" val="762891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effectLst/>
                          <a:latin typeface="quote-cjk-patch"/>
                        </a:rPr>
                        <a:t>Training Size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effectLst/>
                          <a:latin typeface="quote-cjk-patch"/>
                        </a:rPr>
                        <a:t>Training MSE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effectLst/>
                          <a:latin typeface="quote-cjk-patch"/>
                        </a:rPr>
                        <a:t>Validation MSE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effectLst/>
                          <a:latin typeface="quote-cjk-patch"/>
                        </a:rPr>
                        <a:t>Difference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26014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20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2,066.51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15,905.60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13,839.09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15338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50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quote-cjk-patch"/>
                        </a:rPr>
                        <a:t>2,863.62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3,907.02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1,043.40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74021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100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3,150.51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quote-cjk-patch"/>
                        </a:rPr>
                        <a:t>3,423.45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quote-cjk-patch"/>
                        </a:rPr>
                        <a:t>272.93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59438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200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2,854.95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quote-cjk-patch"/>
                        </a:rPr>
                        <a:t>3,014.92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quote-cjk-patch"/>
                        </a:rPr>
                        <a:t>159.97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50822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FDC1060-0143-9D90-3C52-98958B93E665}"/>
              </a:ext>
            </a:extLst>
          </p:cNvPr>
          <p:cNvSpPr txBox="1"/>
          <p:nvPr/>
        </p:nvSpPr>
        <p:spPr>
          <a:xfrm>
            <a:off x="0" y="3851604"/>
            <a:ext cx="8534400" cy="2403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Observations: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Extreme overfitting with only 20 training samples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Rapid improvement in generalization as training data increases</a:t>
            </a:r>
            <a:endParaRPr lang="en-US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Stabilization around 100-200 samples</a:t>
            </a:r>
            <a:endParaRPr lang="en-US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90451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5"/>
            <a:ext cx="12106276" cy="169947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000" b="1" dirty="0">
                <a:solidFill>
                  <a:srgbClr val="F9FAFB"/>
                </a:solidFill>
                <a:effectLst/>
                <a:latin typeface="quote-cjk-patch"/>
              </a:rPr>
              <a:t>Visualization:</a:t>
            </a:r>
          </a:p>
          <a:p>
            <a:pPr algn="l"/>
            <a:r>
              <a:rPr lang="en-US" b="1" dirty="0">
                <a:effectLst/>
                <a:latin typeface="Aptos" panose="020B0004020202020204" pitchFamily="34" charset="0"/>
              </a:rPr>
              <a:t>Learning Curve Analysis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4938044-62E5-215C-B12C-454DA5303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3" y="1366838"/>
            <a:ext cx="8220075" cy="51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7139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4833196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err="1">
                <a:solidFill>
                  <a:srgbClr val="F9FAFB"/>
                </a:solidFill>
                <a:effectLst/>
                <a:latin typeface="quote-cjk-patch"/>
              </a:rPr>
              <a:t>XGBoost</a:t>
            </a:r>
            <a:r>
              <a:rPr lang="en-US" sz="3200" b="1" dirty="0">
                <a:solidFill>
                  <a:srgbClr val="F9FAFB"/>
                </a:solidFill>
                <a:effectLst/>
                <a:latin typeface="quote-cjk-patch"/>
              </a:rPr>
              <a:t> Implementation</a:t>
            </a:r>
          </a:p>
          <a:p>
            <a:pPr algn="l"/>
            <a:r>
              <a:rPr lang="en-US" sz="1600" b="1" i="0" dirty="0">
                <a:solidFill>
                  <a:srgbClr val="F9FAFB"/>
                </a:solidFill>
                <a:effectLst/>
                <a:latin typeface="quote-cjk-patch"/>
              </a:rPr>
              <a:t>Objective</a:t>
            </a:r>
            <a:b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To evaluate whether a more sophisticated ensemble method (</a:t>
            </a:r>
            <a:r>
              <a:rPr lang="en-US" sz="1600" b="0" i="0" dirty="0" err="1">
                <a:solidFill>
                  <a:srgbClr val="F9FAFB"/>
                </a:solidFill>
                <a:effectLst/>
                <a:latin typeface="quote-cjk-patch"/>
              </a:rPr>
              <a:t>XGBoost</a:t>
            </a: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) can outperform our linear regression models in predicting diabetes progression.</a:t>
            </a:r>
          </a:p>
          <a:p>
            <a:pPr algn="l"/>
            <a:r>
              <a:rPr lang="en-US" sz="1600" b="1" i="0" dirty="0" err="1">
                <a:solidFill>
                  <a:srgbClr val="F9FAFB"/>
                </a:solidFill>
                <a:effectLst/>
                <a:latin typeface="quote-cjk-patch"/>
              </a:rPr>
              <a:t>XGBoost</a:t>
            </a:r>
            <a:r>
              <a:rPr lang="en-US" sz="1600" b="1" i="0" dirty="0">
                <a:solidFill>
                  <a:srgbClr val="F9FAFB"/>
                </a:solidFill>
                <a:effectLst/>
                <a:latin typeface="quote-cjk-patch"/>
              </a:rPr>
              <a:t> Advantages:</a:t>
            </a:r>
            <a:endParaRPr lang="en-US" sz="16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Handles complex non-linear relationships and feature interactions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Built-in regularization to prevent overfitting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Automatic feature importance scoring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F9FAFB"/>
                </a:solidFill>
                <a:effectLst/>
                <a:latin typeface="quote-cjk-patch"/>
              </a:rPr>
              <a:t>Robust to outliers and different data distributions</a:t>
            </a:r>
          </a:p>
          <a:p>
            <a:pPr>
              <a:buClr>
                <a:schemeClr val="tx1"/>
              </a:buClr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377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3836375"/>
          </a:xfrm>
        </p:spPr>
        <p:txBody>
          <a:bodyPr>
            <a:normAutofit/>
          </a:bodyPr>
          <a:lstStyle/>
          <a:p>
            <a:pPr algn="l"/>
            <a:r>
              <a:rPr lang="en-US" sz="3200" b="1">
                <a:solidFill>
                  <a:srgbClr val="F9FAFB"/>
                </a:solidFill>
                <a:effectLst/>
                <a:latin typeface="quote-cjk-patch"/>
              </a:rPr>
              <a:t>Performance Results</a:t>
            </a:r>
          </a:p>
          <a:p>
            <a:pPr>
              <a:buClr>
                <a:schemeClr val="tx1"/>
              </a:buClr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386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383637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F9FAFB"/>
                </a:solidFill>
                <a:effectLst/>
                <a:latin typeface="Aptos" panose="020B0004020202020204" pitchFamily="34" charset="0"/>
              </a:rPr>
              <a:t>Methodology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191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383637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F9FAFB"/>
                </a:solidFill>
                <a:effectLst/>
                <a:latin typeface="Aptos" panose="020B0004020202020204" pitchFamily="34" charset="0"/>
              </a:rPr>
              <a:t>Methodology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67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F49B631-878E-C37C-5064-B20892DD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9804"/>
            <a:ext cx="11896531" cy="383637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F9FAFB"/>
                </a:solidFill>
                <a:effectLst/>
                <a:latin typeface="Aptos" panose="020B0004020202020204" pitchFamily="34" charset="0"/>
              </a:rPr>
              <a:t>Methodology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2000" b="0" i="0" cap="none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29755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{B681333F-D017-42BE-96FA-6F1ADDBA322A}TFf0a5ceae-4542-492d-822e-d65a94fb0e1e3b562c5a_win32-009a0557e699</Template>
  <TotalTime>203</TotalTime>
  <Words>829</Words>
  <Application>Microsoft Office PowerPoint</Application>
  <PresentationFormat>Widescreen</PresentationFormat>
  <Paragraphs>153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Arial</vt:lpstr>
      <vt:lpstr>Bookman Old Style</vt:lpstr>
      <vt:lpstr>Calibri</vt:lpstr>
      <vt:lpstr>Franklin Gothic Book</vt:lpstr>
      <vt:lpstr>quote-cjk-patch</vt:lpstr>
      <vt:lpstr>Symbol</vt:lpstr>
      <vt:lpstr>Wingdings</vt:lpstr>
      <vt:lpstr>Custom</vt:lpstr>
      <vt:lpstr>Predicting Diabetes Disease Progression with 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Sham</dc:creator>
  <cp:lastModifiedBy>M Sham</cp:lastModifiedBy>
  <cp:revision>1</cp:revision>
  <dcterms:created xsi:type="dcterms:W3CDTF">2025-11-19T13:58:41Z</dcterms:created>
  <dcterms:modified xsi:type="dcterms:W3CDTF">2025-11-19T17:22:27Z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